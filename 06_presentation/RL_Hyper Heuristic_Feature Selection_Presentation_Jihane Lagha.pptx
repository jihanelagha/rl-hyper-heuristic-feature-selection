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6617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explain that this presentation summarizes the implemented research report: an RL-based hyper-heuristic for feature selection in disease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audience through the presentation flow and highlight that the project emphasizes rigorous comparison, not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motivation: feature selection is both a predictive and optimization problem. We seek compact subsets without destroying predictive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research gap and contributions clearly. Emphasize that the design is an adaptive hyper-heuristic, not a direct feature-by-feature RL selector.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mathematical objective and why the penalty is mild. The aim is not just smaller subsets, but compact subsets that retain discrimination.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evaluation settings. Diabetes is the main large dataset, Heart Disease tests stability under a much smaller sample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architecture diagram to describe the loop: current subset, state, Q-learning controller, operator, subset evaluation, reward, and Q-value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policy is simple and interpretable. The controller learns which move type tends to improve the objective in each subset-size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experimental protocol. Emphasize that final performance is based on held-out test partitions, not on the same validation data used for searching.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early heuristic comparison. It provides motivation for adaptive selection but also shows that RL should be compared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final Diabetes results. RL loses only about 0.0019 AUC compared with all features while removing 7.2 features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Wilcoxon-Holm statistical results for Diabetes: small AUC losses are significant due to stable large sample, and conventional methods achieve better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Heart Disease result: RL reduces features, but the performance loss is larger and variability increases compared with Diabetes.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feature-frequency chart to show that RL repeatedly selects some variables, but also stress that this is not clinical causality.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Diabetes and Heart Disease. The key point is that RL is more competitive on the large Diabetes dataset and less stable on Heart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balanced discussion: RL is feasible and interpretable but limited by simple state representation and strong conventional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balanced message and future improvements. Reinforce that reporting unfavorable results is a strength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Be ready to discuss why RL did not always outperform conventional feature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3383280" cy="475488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19786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11/30/2026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" y="3886200"/>
            <a:ext cx="1828800" cy="2926080"/>
          </a:xfrm>
          <a:prstGeom prst="arc">
            <a:avLst/>
          </a:prstGeom>
          <a:solidFill>
            <a:srgbClr val="FFFFFF">
              <a:alpha val="0"/>
            </a:srgbClr>
          </a:solidFill>
          <a:ln w="21590">
            <a:solidFill>
              <a:srgbClr val="0B3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3749040"/>
            <a:ext cx="2834640" cy="310896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9BB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024128"/>
            <a:ext cx="6080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Reinforcement-Learning-Based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Hyper-Heuristic for Feature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Selection in Disease Prediction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24048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 Topics in AI — Option 2: Real-World AI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and Implementation Project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5029200" y="55961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B37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Jihane Ahmad Lagha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5029200" y="587044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Computer Science, Beirut Arab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roadmap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motivation to final results and interpretation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438912" cy="43891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5361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25880" y="140817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</a:rPr>
              <a:t>Problem &amp; research motivation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170992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</a:rPr>
              <a:t>Why feature selection matters in healthcare AI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85800" y="2286000"/>
            <a:ext cx="438912" cy="43891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4048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25880" y="2276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</a:rPr>
              <a:t>Proposed RL hyper-heuristic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25786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</a:rPr>
              <a:t>Q-learning selects ADD / REMOVE / SWAP / FLIP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685800" y="3154680"/>
            <a:ext cx="438912" cy="43891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27355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25880" y="31455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</a:rPr>
              <a:t>Experimental design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44728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</a:rPr>
              <a:t>Datasets, baselines, metrics and statistical tests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85800" y="4023360"/>
            <a:ext cx="438912" cy="43891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14223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25880" y="40142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</a:rPr>
              <a:t>Results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31596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</a:rPr>
              <a:t>Diabetes, heart disease and cross-dataset interpretation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685800" y="4892040"/>
            <a:ext cx="438912" cy="43891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50109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25880" y="48828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518464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</a:rPr>
              <a:t>What the evidence supports and what remains limited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8595360" y="1417320"/>
            <a:ext cx="2697480" cy="4389120"/>
          </a:xfrm>
          <a:prstGeom prst="roundRect">
            <a:avLst>
              <a:gd name="adj" fmla="val 3051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6968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768"/>
                </a:solidFill>
              </a:rPr>
              <a:t>Key theme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887968" y="2240280"/>
            <a:ext cx="21488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B36"/>
                </a:solidFill>
              </a:rPr>
              <a:t>The study does not assume that RL must win. It tests whether adaptive heuristic selection can produce compact, high-performing subsets under strong comparisons.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006840" y="4736592"/>
            <a:ext cx="1920240" cy="347472"/>
          </a:xfrm>
          <a:prstGeom prst="roundRect">
            <a:avLst>
              <a:gd name="adj" fmla="val 18421"/>
            </a:avLst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079992" y="480974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conclusion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feature selection matters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models often contain variables with unequal predictive value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5528" y="15270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95528" y="192938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Diabetes predictors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5528" y="2185416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survey dataset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80360" y="141732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90088" y="15270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990088" y="192938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predictors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90088" y="2185416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clinical dataset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74920" y="141732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84648" y="152704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7F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2^d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184648" y="192938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subsets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84648" y="2185416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combinatorial search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68680" y="2880360"/>
            <a:ext cx="60350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variables may be redundant, weakly informative or costly to collect.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Smaller feature sets can improve simplicity, efficiency and interpretability.</a:t>
            </a:r>
            <a:endParaRPr lang="en-US" sz="17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challenge: selecting fewer variables without losing predictive discrimination.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589520" y="1325880"/>
            <a:ext cx="3749040" cy="4297680"/>
          </a:xfrm>
          <a:prstGeom prst="roundRect">
            <a:avLst>
              <a:gd name="adj" fmla="val 2439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6384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768"/>
                </a:solidFill>
              </a:rPr>
              <a:t>Feature selection as search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09560" y="2240280"/>
            <a:ext cx="3108960" cy="402336"/>
          </a:xfrm>
          <a:prstGeom prst="rect">
            <a:avLst/>
          </a:prstGeom>
          <a:solidFill>
            <a:srgbClr val="E8F1F8"/>
          </a:solidFill>
          <a:ln w="889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46720" y="23134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6"/>
                </a:solidFill>
              </a:rPr>
              <a:t>Full feature set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0" y="231343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A6673"/>
                </a:solidFill>
              </a:rPr>
              <a:t>Many variables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909560" y="2880360"/>
            <a:ext cx="31089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0" y="295351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6"/>
                </a:solidFill>
              </a:rPr>
              <a:t>Candidate subset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01200" y="295351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A6673"/>
                </a:solidFill>
              </a:rPr>
              <a:t>Binary vector z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909560" y="3520440"/>
            <a:ext cx="3108960" cy="402336"/>
          </a:xfrm>
          <a:prstGeom prst="rect">
            <a:avLst/>
          </a:prstGeom>
          <a:solidFill>
            <a:srgbClr val="E8F1F8"/>
          </a:solidFill>
          <a:ln w="889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46720" y="359359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6"/>
                </a:solidFill>
              </a:rPr>
              <a:t>Classifier evaluation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601200" y="35935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A6673"/>
                </a:solidFill>
              </a:rPr>
              <a:t>ROC-AUC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7909560" y="4160520"/>
            <a:ext cx="310896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46720" y="423367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B36"/>
                </a:solidFill>
              </a:rPr>
              <a:t>Compactness penalty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01200" y="423367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A6673"/>
                </a:solidFill>
              </a:rPr>
              <a:t>fewer selected features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gap and contributions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adaptive operator selection against strong baselines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768"/>
                </a:solidFill>
              </a:rPr>
              <a:t>Research gap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49377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6"/>
                </a:solidFill>
              </a:rPr>
              <a:t>Conventional feature selection, hyper-heuristics and RL feature selection are often studied separately. This project tests their intersection: Q-learning as a high-level controller over feature-subset modification operators.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0" cy="4389120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768"/>
                </a:solidFill>
              </a:rPr>
              <a:t>Main contributions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1810512"/>
            <a:ext cx="49377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6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 selects among ADD, REMOVE, SWAP and FLIP operators.</a:t>
            </a:r>
            <a:endParaRPr lang="en-US" sz="146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6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 balances ROC-AUC with subset compactness.</a:t>
            </a:r>
            <a:endParaRPr lang="en-US" sz="146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6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healthcare datasets with different sample sizes are evaluated.</a:t>
            </a:r>
            <a:endParaRPr lang="en-US" sz="146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6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Comparisons include All Features, SelectKBest, L1 and RFE.</a:t>
            </a:r>
            <a:endParaRPr lang="en-US" sz="146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6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Wilcoxon tests with Holm correction support statistical interpretation.</a:t>
            </a:r>
            <a:endParaRPr lang="en-US" sz="1460" dirty="0"/>
          </a:p>
        </p:txBody>
      </p:sp>
      <p:sp>
        <p:nvSpPr>
          <p:cNvPr id="14" name="Shape 12"/>
          <p:cNvSpPr/>
          <p:nvPr/>
        </p:nvSpPr>
        <p:spPr>
          <a:xfrm>
            <a:off x="1189653" y="3392424"/>
            <a:ext cx="2880360" cy="347472"/>
          </a:xfrm>
          <a:prstGeom prst="roundRect">
            <a:avLst>
              <a:gd name="adj" fmla="val 18421"/>
            </a:avLst>
          </a:prstGeom>
          <a:solidFill>
            <a:srgbClr val="FF7F0E"/>
          </a:solidFill>
          <a:ln w="12700">
            <a:solidFill>
              <a:srgbClr val="FF7F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9653" y="3468935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evaluate, not overclaim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4343400"/>
            <a:ext cx="4617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E2B36"/>
                </a:solidFill>
              </a:rPr>
              <a:t>Valid outcomes: RL may improve performance, match performance with fewer features, or show that simpler baselines remain stronger.</a:t>
            </a:r>
            <a:endParaRPr lang="en-US" sz="14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formulation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feature subset is a binary vector optimized for performance and compactness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37160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768"/>
                </a:solidFill>
              </a:rPr>
              <a:t>Candidate subset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19476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76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 ∈ {0,1}ᵈ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154680" y="1920240"/>
            <a:ext cx="2148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E2B36"/>
                </a:solidFill>
              </a:rPr>
              <a:t>zⱼ = 1 means feature j is selected; k = Σ zⱼ selected features.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777240" y="374904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913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768"/>
                </a:solidFill>
              </a:rPr>
              <a:t>Objective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E2B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J(z) = ROC-AUC(z) − λ × (k / d),  λ = 0.02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51560" y="453542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5A6673"/>
                </a:solidFill>
              </a:rPr>
              <a:t>Interpretation: strong AUC is prioritized; among similar AUC values, fewer selected features are rewarded.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49224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768"/>
                </a:solidFill>
              </a:rPr>
              <a:t>Search-space scale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0" y="1965960"/>
            <a:ext cx="237744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0528" y="207568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7F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2,097,152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510528" y="2478024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Diabetes subsets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10528" y="2734056"/>
            <a:ext cx="2157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2²¹ possible subsets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098280" y="1965960"/>
            <a:ext cx="219456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08008" y="207568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8,192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9208008" y="247802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subsets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08008" y="273405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2¹³ possible subsets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46520" y="3429000"/>
            <a:ext cx="47548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Exhaustive search is impractical or unnecessary for the larger dataset.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Wrapper evaluation uses Logistic Regression and ROC-AUC.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RL controller learns which type of search move to apply.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Datasets and preprocessing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large-scale dataset plus secondary validation setting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10881360" cy="352697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371600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1408176"/>
            <a:ext cx="2538374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Characteristic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3902" y="1408176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Diabetes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7326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68819" y="1408176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UCI Heart Disease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32243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1724297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" y="1760873"/>
            <a:ext cx="2538374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3902" y="1760873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253,680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7326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8819" y="1760873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32243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2076994"/>
            <a:ext cx="10881360" cy="352697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2076994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" y="2113570"/>
            <a:ext cx="2538374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3902" y="2113570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7326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68819" y="2113570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32243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2429691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" y="2466267"/>
            <a:ext cx="2538374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3902" y="2466267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diabetes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7326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68819" y="2466267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 &gt; 0 = disease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32243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800" y="2782389"/>
            <a:ext cx="10881360" cy="352697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5800" y="2782389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2376" y="2818965"/>
            <a:ext cx="2538374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33902" y="2818965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97326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68819" y="2818965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32243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85800" y="3135086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22376" y="3171662"/>
            <a:ext cx="2538374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33902" y="3171662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standardization + balanced class weights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97326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68819" y="3171662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imputation + standardization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32243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5800" y="3487783"/>
            <a:ext cx="10881360" cy="352697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85800" y="3487783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2376" y="3524359"/>
            <a:ext cx="2538374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33902" y="3524359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case study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97326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468819" y="3524359"/>
            <a:ext cx="4061765" cy="2795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validation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432243" y="1371600"/>
            <a:ext cx="0" cy="246888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85800" y="3840480"/>
            <a:ext cx="1088136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22960" y="43434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51560" y="459943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768"/>
                </a:solidFill>
              </a:rPr>
              <a:t>Diabetes: stable large-sample evaluation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55080" y="434340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 w="12700">
            <a:solidFill>
              <a:srgbClr val="FAD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565392" y="4599432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F0E"/>
                </a:solidFill>
              </a:rPr>
              <a:t>Heart disease: smaller and noisier validation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Q-learning hyper-heuristic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learns which search operator to use, not which feature directly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pt_assets/p6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937" y="1325880"/>
            <a:ext cx="6703367" cy="3383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709160"/>
            <a:ext cx="103784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is a compact subset-size category: SMALL, MEDIUM or LARGE.</a:t>
            </a:r>
            <a:endParaRPr lang="en-US" sz="145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selects one low-level heuristic: ADD, REMOVE, SWAP or FLIP.</a:t>
            </a:r>
            <a:endParaRPr lang="en-US" sz="145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is the change in performance-compactness objective.</a:t>
            </a:r>
            <a:endParaRPr lang="en-US" sz="145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45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subset is tracked and evaluated on held-out data.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layer and Q-learning policy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controller chooses among complementary search moves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2331720" cy="1005840"/>
          </a:xfrm>
          <a:prstGeom prst="roundRect">
            <a:avLst>
              <a:gd name="adj" fmla="val 9091"/>
            </a:avLst>
          </a:prstGeom>
          <a:solidFill>
            <a:srgbClr val="2CA02C"/>
          </a:solidFill>
          <a:ln w="12700">
            <a:solidFill>
              <a:srgbClr val="2CA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618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ADD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1984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FFFFFF"/>
                </a:solidFill>
              </a:rPr>
              <a:t>include one excluded feature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520440" y="1417320"/>
            <a:ext cx="2331720" cy="1005840"/>
          </a:xfrm>
          <a:prstGeom prst="roundRect">
            <a:avLst>
              <a:gd name="adj" fmla="val 9091"/>
            </a:avLst>
          </a:prstGeom>
          <a:solidFill>
            <a:srgbClr val="D62728"/>
          </a:solidFill>
          <a:ln w="12700">
            <a:solidFill>
              <a:srgbClr val="D627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1618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REMOVE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1984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FFFFFF"/>
                </a:solidFill>
              </a:rPr>
              <a:t>remove one selected feature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309360" y="1417320"/>
            <a:ext cx="2331720" cy="1005840"/>
          </a:xfrm>
          <a:prstGeom prst="roundRect">
            <a:avLst>
              <a:gd name="adj" fmla="val 9091"/>
            </a:avLst>
          </a:prstGeom>
          <a:solidFill>
            <a:srgbClr val="FF7F0E"/>
          </a:solidFill>
          <a:ln w="12700">
            <a:solidFill>
              <a:srgbClr val="FF7F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1618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SWAP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1984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FFFFFF"/>
                </a:solidFill>
              </a:rPr>
              <a:t>replace one selected feature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9098280" y="1417320"/>
            <a:ext cx="2331720" cy="1005840"/>
          </a:xfrm>
          <a:prstGeom prst="roundRect">
            <a:avLst>
              <a:gd name="adj" fmla="val 9091"/>
            </a:avLst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5440" y="161848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FLIP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35440" y="19842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FFFFFF"/>
                </a:solidFill>
              </a:rPr>
              <a:t>toggle one feature bit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22960" y="3063240"/>
            <a:ext cx="5257800" cy="1325880"/>
          </a:xfrm>
          <a:prstGeom prst="roundRect">
            <a:avLst>
              <a:gd name="adj" fmla="val 6897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6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768"/>
                </a:solidFill>
              </a:rPr>
              <a:t>Q-update rule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E2B3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Q(s,a) ← Q(s,a) + α [ r + γ max Q(s′,a′) − Q(s,a) ]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92240" y="3063240"/>
            <a:ext cx="4754880" cy="1325880"/>
          </a:xfrm>
          <a:prstGeom prst="roundRect">
            <a:avLst>
              <a:gd name="adj" fmla="val 689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0840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768"/>
                </a:solidFill>
              </a:rPr>
              <a:t>Policy settings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36758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B36"/>
                </a:solidFill>
              </a:rPr>
              <a:t>α = 0.20   γ = 0.80   ε starts at 0.30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B36"/>
                </a:solidFill>
              </a:rPr>
              <a:t>ε decays by 0.95 and is bounded at 0.05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611880" y="5029200"/>
            <a:ext cx="4114800" cy="548640"/>
          </a:xfrm>
          <a:prstGeom prst="roundRect">
            <a:avLst>
              <a:gd name="adj" fmla="val 18421"/>
            </a:avLst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85031" y="5148072"/>
            <a:ext cx="38354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= change in objective J(z)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Experimental methodology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baselines and repeated statistical testing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10652760" cy="694944"/>
          </a:xfrm>
          <a:prstGeom prst="roundRect">
            <a:avLst>
              <a:gd name="adj" fmla="val 10526"/>
            </a:avLst>
          </a:prstGeom>
          <a:solidFill>
            <a:srgbClr val="E8F1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4B5"/>
                </a:solidFill>
              </a:rPr>
              <a:t>Predictive model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08960" y="160020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E2B36"/>
                </a:solidFill>
              </a:rPr>
              <a:t>Logistic Regression with standardized features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7240" y="2423160"/>
            <a:ext cx="10652760" cy="694944"/>
          </a:xfrm>
          <a:prstGeom prst="roundRect">
            <a:avLst>
              <a:gd name="adj" fmla="val 10526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624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A6A6"/>
                </a:solidFill>
              </a:rPr>
              <a:t>Baselines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08960" y="260604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E2B36"/>
                </a:solidFill>
              </a:rPr>
              <a:t>All Features, Random/fixed heuristics, SelectKBest, L1, RFE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" y="3429000"/>
            <a:ext cx="10652760" cy="694944"/>
          </a:xfrm>
          <a:prstGeom prst="roundRect">
            <a:avLst>
              <a:gd name="adj" fmla="val 10526"/>
            </a:avLst>
          </a:prstGeom>
          <a:solidFill>
            <a:srgbClr val="E8F1F8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6301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7F0E"/>
                </a:solidFill>
              </a:rPr>
              <a:t>Evaluation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08960" y="361188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E2B36"/>
                </a:solidFill>
              </a:rPr>
              <a:t>Repeated splits; held-out ROC-AUC and compactness objective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10652760" cy="694944"/>
          </a:xfrm>
          <a:prstGeom prst="roundRect">
            <a:avLst>
              <a:gd name="adj" fmla="val 10526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6360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768"/>
                </a:solidFill>
              </a:rPr>
              <a:t>Statistics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08960" y="4617720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E2B36"/>
                </a:solidFill>
              </a:rPr>
              <a:t>Paired Wilcoxon signed-rank tests + Holm correction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14400" y="54132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768"/>
                </a:solidFill>
              </a:rPr>
              <a:t>Final repeated comparisons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573328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B36"/>
                </a:solidFill>
              </a:rPr>
              <a:t>Diabetes: 10 outer splits  •  Heart Disease: 30 repeated splits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Exploratory Diabetes heuristic comparison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low-level operator dominated all search behavior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6629400" cy="404949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1417320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" y="1453896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93976" y="1453896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AUC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9856" y="1453896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45736" y="1453896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71616" y="1453896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1520" y="1822269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8096" y="1858845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93976" y="1858845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0.8176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5740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19856" y="1858845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14.53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45736" y="1858845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30.8%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71616" y="1858845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0.8038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" y="2227217"/>
            <a:ext cx="6629400" cy="404949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2227217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8096" y="2263793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93976" y="2263793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0.8156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05740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19856" y="2263793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12.73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45736" y="2263793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39.4%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71616" y="2263793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0.8035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3504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31520" y="2632166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68096" y="2668742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093976" y="2668742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0.8173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05740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419856" y="2668742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13.70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38328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45736" y="2668742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34.8%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71616" y="2668742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0.8043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3504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31520" y="3037114"/>
            <a:ext cx="6629400" cy="404949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31520" y="3037114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8096" y="3073690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093976" y="3073690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0.8120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05740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419856" y="3073690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11.67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38328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45736" y="3073690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44.4%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0916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071616" y="3073690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0.8009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03504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31520" y="3442063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68096" y="3478639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SWAP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2093976" y="3478639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0.8175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05740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19856" y="3478639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13.83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38328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745736" y="3478639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34.1%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70916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071616" y="3478639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0.8043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03504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31520" y="3847011"/>
            <a:ext cx="6629400" cy="404949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31520" y="3847011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68096" y="3883587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2093976" y="3883587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0.8179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05740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419856" y="3883587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14.13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38328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745736" y="3883587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32.7%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70916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071616" y="3883587"/>
            <a:ext cx="1252728" cy="3317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980" dirty="0"/>
          </a:p>
        </p:txBody>
      </p:sp>
      <p:sp>
        <p:nvSpPr>
          <p:cNvPr id="82" name="Shape 80"/>
          <p:cNvSpPr/>
          <p:nvPr/>
        </p:nvSpPr>
        <p:spPr>
          <a:xfrm>
            <a:off x="6035040" y="1417320"/>
            <a:ext cx="0" cy="283464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31520" y="4251960"/>
            <a:ext cx="662940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863840" y="1417320"/>
            <a:ext cx="3429000" cy="3410712"/>
          </a:xfrm>
          <a:prstGeom prst="roundRect">
            <a:avLst>
              <a:gd name="adj" fmla="val 3279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818388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3768"/>
                </a:solidFill>
              </a:rPr>
              <a:t>Interpretation</a:t>
            </a:r>
            <a:endParaRPr lang="en-US" sz="1700" dirty="0"/>
          </a:p>
        </p:txBody>
      </p:sp>
      <p:sp>
        <p:nvSpPr>
          <p:cNvPr id="86" name="Text 84"/>
          <p:cNvSpPr/>
          <p:nvPr/>
        </p:nvSpPr>
        <p:spPr>
          <a:xfrm>
            <a:off x="8183880" y="2240280"/>
            <a:ext cx="2743200" cy="215443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ADD, SWAP and RANDOM reached similar AUC values.</a:t>
            </a:r>
            <a:endParaRPr lang="en-US" sz="128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reduced more features but hurt AUC.</a:t>
            </a:r>
            <a:endParaRPr lang="en-US" sz="1280" dirty="0"/>
          </a:p>
          <a:p>
            <a:pPr marL="285750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2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was competitive but not clearly superior at this stage.</a:t>
            </a:r>
            <a:endParaRPr lang="en-US" sz="1280" dirty="0"/>
          </a:p>
        </p:txBody>
      </p:sp>
      <p:sp>
        <p:nvSpPr>
          <p:cNvPr id="87" name="Shape 85"/>
          <p:cNvSpPr/>
          <p:nvPr/>
        </p:nvSpPr>
        <p:spPr>
          <a:xfrm>
            <a:off x="2331720" y="4754880"/>
            <a:ext cx="3383280" cy="347472"/>
          </a:xfrm>
          <a:prstGeom prst="roundRect">
            <a:avLst>
              <a:gd name="adj" fmla="val 18421"/>
            </a:avLst>
          </a:prstGeom>
          <a:solidFill>
            <a:srgbClr val="FF7F0E"/>
          </a:solidFill>
          <a:ln w="12700">
            <a:solidFill>
              <a:srgbClr val="FF7F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404872" y="482803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Rationale for adaptive control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97280" y="52852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E2B36"/>
                </a:solidFill>
              </a:rPr>
              <a:t>The heuristic behavior varies by operator, so learning when to use each operator remains conceptually justified.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Diabetes results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preserved most AUC while reducing about one-third of features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pt_assets/p9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52" y="1234440"/>
            <a:ext cx="5282376" cy="2926080"/>
          </a:xfrm>
          <a:prstGeom prst="rect">
            <a:avLst/>
          </a:prstGeom>
        </p:spPr>
      </p:pic>
      <p:pic>
        <p:nvPicPr>
          <p:cNvPr id="10" name="Image 1" descr="/mnt/data/ppt_assets/p10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772" y="1234440"/>
            <a:ext cx="5282376" cy="2926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8696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0.8210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88696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mean ROC-AUC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8696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features: 0.8230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24612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35584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13.8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335584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features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5584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21 predictors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571500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82472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7F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34.3%</a:t>
            </a:r>
            <a:endParaRPr lang="en-US" sz="2300" dirty="0"/>
          </a:p>
        </p:txBody>
      </p:sp>
      <p:sp>
        <p:nvSpPr>
          <p:cNvPr id="21" name="Text 17"/>
          <p:cNvSpPr/>
          <p:nvPr/>
        </p:nvSpPr>
        <p:spPr>
          <a:xfrm>
            <a:off x="582472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reduction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82472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reduction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818388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29360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0.8079</a:t>
            </a:r>
            <a:endParaRPr lang="en-US" sz="2300" dirty="0"/>
          </a:p>
        </p:txBody>
      </p:sp>
      <p:sp>
        <p:nvSpPr>
          <p:cNvPr id="25" name="Text 21"/>
          <p:cNvSpPr/>
          <p:nvPr/>
        </p:nvSpPr>
        <p:spPr>
          <a:xfrm>
            <a:off x="829360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objective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29360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features: 0.8030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Diabetes statistical interpretation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useful, but strong conventional baselines remain better overall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10835640" cy="438912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" y="1453896"/>
            <a:ext cx="3177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73068" y="1453896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AUC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6492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15127" y="1453896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Holm 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78551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57186" y="1453896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0610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7601" y="1453896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Objective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71025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1856232"/>
            <a:ext cx="1083564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" y="1892808"/>
            <a:ext cx="3177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vs All 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3068" y="1892808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−0.001924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36492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15127" y="1892808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0.007812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78551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57186" y="1892808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−7.20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20610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7601" y="1892808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+0.004933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571025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5800" y="2295144"/>
            <a:ext cx="10835640" cy="438912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" y="2295144"/>
            <a:ext cx="1083564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" y="2331720"/>
            <a:ext cx="3177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vs L1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73068" y="2331720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−0.001373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936492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815127" y="2331720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0.007812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78551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57186" y="2331720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+2.80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20610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607601" y="2331720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−0.004039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571025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5800" y="2734056"/>
            <a:ext cx="1083564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2376" y="2770632"/>
            <a:ext cx="3177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vs RFE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73068" y="2770632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−0.001104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936492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15127" y="2770632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0.019531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778551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657186" y="2770632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+4.00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20610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607601" y="2770632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−0.004914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71025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85800" y="3172968"/>
            <a:ext cx="10835640" cy="438912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85800" y="3172968"/>
            <a:ext cx="1083564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22376" y="3209544"/>
            <a:ext cx="31775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vs SelectKBest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973068" y="3209544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+0.003235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936492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815127" y="3209544"/>
            <a:ext cx="17689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0.007812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778551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57186" y="3209544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+5.80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620610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607601" y="3209544"/>
            <a:ext cx="18772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−0.002288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571025" y="1417320"/>
            <a:ext cx="0" cy="219456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85800" y="3611880"/>
            <a:ext cx="10835640" cy="0"/>
          </a:xfrm>
          <a:prstGeom prst="line">
            <a:avLst/>
          </a:prstGeom>
          <a:noFill/>
          <a:ln w="6350">
            <a:solidFill>
              <a:srgbClr val="C8D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14400" y="411480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143000" y="43525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</a:rPr>
              <a:t>Supported claim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1143000" y="4663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B36"/>
                </a:solidFill>
              </a:rPr>
              <a:t>RL is effective at producing compact, high-performing subsets and improves the objective over the full-feature model.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492240" y="411480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FF4E6"/>
          </a:solidFill>
          <a:ln w="12700">
            <a:solidFill>
              <a:srgbClr val="FAD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720840" y="43525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F0E"/>
                </a:solidFill>
              </a:rPr>
              <a:t>Cautious interpretation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6720840" y="4663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B36"/>
                </a:solidFill>
              </a:rPr>
              <a:t>RFE and L1 achieve stronger performance-compactness trade-offs on Diabetes, so RL is not the best final method.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Heart Disease results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small dataset exposes instability and weaker RL performance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pt_assets/p1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52" y="1234440"/>
            <a:ext cx="5282376" cy="2926080"/>
          </a:xfrm>
          <a:prstGeom prst="rect">
            <a:avLst/>
          </a:prstGeom>
        </p:spPr>
      </p:pic>
      <p:pic>
        <p:nvPicPr>
          <p:cNvPr id="10" name="Image 1" descr="/mnt/data/ppt_assets/p12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772" y="1234440"/>
            <a:ext cx="5282376" cy="2926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8696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E74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0.8791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88696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mean ROC-AUC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8696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features: 0.9032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24612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35584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8.03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335584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features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35584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13 predictors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571500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82472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7F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38.2%</a:t>
            </a:r>
            <a:endParaRPr lang="en-US" sz="2300" dirty="0"/>
          </a:p>
        </p:txBody>
      </p:sp>
      <p:sp>
        <p:nvSpPr>
          <p:cNvPr id="21" name="Text 17"/>
          <p:cNvSpPr/>
          <p:nvPr/>
        </p:nvSpPr>
        <p:spPr>
          <a:xfrm>
            <a:off x="582472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reduction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82472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reduction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8183880" y="4709160"/>
            <a:ext cx="2240280" cy="987552"/>
          </a:xfrm>
          <a:prstGeom prst="roundRect">
            <a:avLst>
              <a:gd name="adj" fmla="val 7407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8293608" y="4818888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6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0.0373</a:t>
            </a:r>
            <a:endParaRPr lang="en-US" sz="2300" dirty="0"/>
          </a:p>
        </p:txBody>
      </p:sp>
      <p:sp>
        <p:nvSpPr>
          <p:cNvPr id="25" name="Text 21"/>
          <p:cNvSpPr/>
          <p:nvPr/>
        </p:nvSpPr>
        <p:spPr>
          <a:xfrm>
            <a:off x="8293608" y="5221224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AUC std.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293608" y="5477256"/>
            <a:ext cx="2020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variability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Heart Disease interpretation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selected meaningful subsets but did not outperform strong baselines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pt_assets/p14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0860"/>
            <a:ext cx="5486400" cy="357339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29400" y="1417320"/>
            <a:ext cx="4617720" cy="38862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03720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768"/>
                </a:solidFill>
              </a:rPr>
              <a:t>Statistical takeaway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903720" y="2221992"/>
            <a:ext cx="3977640" cy="21671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is significantly worse than All Features in AUC and objective.</a:t>
            </a:r>
            <a:endParaRPr lang="en-US" sz="128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is also weaker than L1 for both AUC and objective.</a:t>
            </a:r>
            <a:endParaRPr lang="en-US" sz="128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Differences from RFE are not significant after Holm correction.</a:t>
            </a:r>
            <a:endParaRPr lang="en-US" sz="128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8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selection does not imply clinical causality.</a:t>
            </a:r>
            <a:endParaRPr lang="en-US" sz="1280" dirty="0"/>
          </a:p>
        </p:txBody>
      </p:sp>
      <p:sp>
        <p:nvSpPr>
          <p:cNvPr id="13" name="Shape 10"/>
          <p:cNvSpPr/>
          <p:nvPr/>
        </p:nvSpPr>
        <p:spPr>
          <a:xfrm>
            <a:off x="6995160" y="4572000"/>
            <a:ext cx="3707052" cy="484632"/>
          </a:xfrm>
          <a:prstGeom prst="roundRect">
            <a:avLst>
              <a:gd name="adj" fmla="val 18421"/>
            </a:avLst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68311" y="4690871"/>
            <a:ext cx="3559255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selected: sex, ca, cp, trestbps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Cross-dataset analysis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search concept, different operating regimes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mnt/data/ppt_assets/p15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06" y="1234440"/>
            <a:ext cx="6353629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35240" y="146304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909560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768"/>
                </a:solidFill>
              </a:rPr>
              <a:t>Diabetes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09560" y="19933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E2B36"/>
                </a:solidFill>
              </a:rPr>
              <a:t>AUC gap ≈ 0.0019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E2B36"/>
                </a:solidFill>
              </a:rPr>
              <a:t>Feature reduction = 34.3%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7635240" y="2971800"/>
            <a:ext cx="3566160" cy="11430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 w="12700">
            <a:solidFill>
              <a:srgbClr val="FAD7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909560" y="3218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F0E"/>
                </a:solidFill>
              </a:rPr>
              <a:t>Heart Disease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09560" y="35021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E2B36"/>
                </a:solidFill>
              </a:rPr>
              <a:t>AUC gap ≈ 0.0241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E2B36"/>
                </a:solidFill>
              </a:rPr>
              <a:t>Feature reduction = 38.2%</a:t>
            </a:r>
            <a:endParaRPr lang="en-US" sz="1270" dirty="0"/>
          </a:p>
        </p:txBody>
      </p:sp>
      <p:sp>
        <p:nvSpPr>
          <p:cNvPr id="16" name="Text 13"/>
          <p:cNvSpPr/>
          <p:nvPr/>
        </p:nvSpPr>
        <p:spPr>
          <a:xfrm>
            <a:off x="7635240" y="4617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5A6673"/>
                </a:solidFill>
              </a:rPr>
              <a:t>Interpretation: dataset size, noise, features and preprocessing all affect search stability. Dataset size alone should not be treated as the only cause.</a:t>
            </a:r>
            <a:endParaRPr lang="en-US" sz="12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and limitations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search is viable, but the simple RL design is not universally superior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37160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E8F1F8"/>
          </a:solidFill>
          <a:ln w="12700">
            <a:solidFill>
              <a:srgbClr val="BB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1719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768"/>
                </a:solidFill>
              </a:rPr>
              <a:t>What the results support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176272"/>
            <a:ext cx="448056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7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Q-learning can act as a high-level feature-selection controller.</a:t>
            </a:r>
            <a:endParaRPr lang="en-US" sz="137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7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discovers substantially smaller feature sets.</a:t>
            </a:r>
            <a:endParaRPr lang="en-US" sz="137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7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Diabetes, AUC remains close to the full-feature model.</a:t>
            </a:r>
            <a:endParaRPr lang="en-US" sz="137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7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baselines are essential for fair evaluation.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4937760" cy="4389120"/>
          </a:xfrm>
          <a:prstGeom prst="roundRect">
            <a:avLst>
              <a:gd name="adj" fmla="val 2083"/>
            </a:avLst>
          </a:prstGeom>
          <a:solidFill>
            <a:srgbClr val="F6F8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0" y="17190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768"/>
                </a:solidFill>
              </a:rPr>
              <a:t>Main limitations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2176272"/>
            <a:ext cx="43434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encodes only subset size, not feature identity.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Low-level heuristics modify features randomly.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Logistic Regression is used for wrapper evaluation.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λ = 0.02 is fixed; other costs may require different trade-offs.</a:t>
            </a:r>
            <a:endParaRPr lang="en-US" sz="13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E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clinical cohort or deployment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65196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Reinforcement-Learning Hyper-Heuristic for Feature Selection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67160" y="65196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work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1208" y="84124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balanced conclusion: viable adaptive search, not a universal replacement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115568"/>
            <a:ext cx="10789920" cy="0"/>
          </a:xfrm>
          <a:prstGeom prst="line">
            <a:avLst/>
          </a:prstGeom>
          <a:noFill/>
          <a:ln w="1651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371600"/>
            <a:ext cx="10607040" cy="1143000"/>
          </a:xfrm>
          <a:prstGeom prst="roundRect">
            <a:avLst>
              <a:gd name="adj" fmla="val 8000"/>
            </a:avLst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conclusion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8470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FFFFFF"/>
                </a:solidFill>
              </a:rPr>
              <a:t>RL hyper-heuristics are viable and interpretable for adaptive feature-selection search, but their effectiveness depends on dataset stability, reward design, state representation and baseline strength.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914400" y="29077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E74B5"/>
                </a:solidFill>
              </a:rPr>
              <a:t>Diabetes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914400" y="316382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E2B36"/>
                </a:solidFill>
              </a:rPr>
              <a:t>RL: AUC 0.8210, 34.3% reduction; competitive but RFE/L1 stronger objective.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FF7F0E"/>
                </a:solidFill>
              </a:rPr>
              <a:t>Heart Disease</a:t>
            </a:r>
            <a:endParaRPr lang="en-US" sz="1430" dirty="0"/>
          </a:p>
        </p:txBody>
      </p:sp>
      <p:sp>
        <p:nvSpPr>
          <p:cNvPr id="15" name="Text 13"/>
          <p:cNvSpPr/>
          <p:nvPr/>
        </p:nvSpPr>
        <p:spPr>
          <a:xfrm>
            <a:off x="914400" y="3913632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E2B36"/>
                </a:solidFill>
              </a:rPr>
              <a:t>RL: AUC 0.8791, 38.2% reduction; lower and more variable than stronger baselines.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14400" y="44074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0B3768"/>
                </a:solidFill>
              </a:rPr>
              <a:t>Evidence standard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E2B36"/>
                </a:solidFill>
              </a:rPr>
              <a:t>Wilcoxon + Holm results prevent overclaiming from small numerical differences.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914400" y="5130905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0B3768"/>
                </a:solidFill>
              </a:rPr>
              <a:t>Future work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914400" y="543153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B36"/>
                </a:solidFill>
              </a:rPr>
              <a:t>richer RL states • feature-specific actions • multi-objective rewards • nested cross-validation • additional healthcare datasets</a:t>
            </a:r>
            <a:endParaRPr lang="en-US" sz="12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B3768"/>
          </a:solidFill>
          <a:ln w="12700">
            <a:solidFill>
              <a:srgbClr val="0B3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0"/>
            <a:ext cx="164592" cy="6858000"/>
          </a:xfrm>
          <a:prstGeom prst="rect">
            <a:avLst/>
          </a:prstGeom>
          <a:solidFill>
            <a:srgbClr val="2E74B5"/>
          </a:solidFill>
          <a:ln w="12700">
            <a:solidFill>
              <a:srgbClr val="2E74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37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6"/>
                </a:solidFill>
              </a:rPr>
              <a:t>Reinforcement-Learning-Based Hyper-Heuristic for Feature Selection in Disease Prediction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463040" y="2907792"/>
            <a:ext cx="8046720" cy="0"/>
          </a:xfrm>
          <a:prstGeom prst="line">
            <a:avLst/>
          </a:prstGeom>
          <a:noFill/>
          <a:ln w="1778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32461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3"/>
                </a:solidFill>
              </a:rPr>
              <a:t>Jihane Ahmad Lagha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673"/>
                </a:solidFill>
              </a:rPr>
              <a:t>Department of Computer Science, Beirut Arab University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5440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4B5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1940</Words>
  <Application>Microsoft Office PowerPoint</Application>
  <PresentationFormat>Widescreen</PresentationFormat>
  <Paragraphs>357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Beirut Arab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Reinforcement-Learning-Based Hyper-Heuristic for Feature Selection in Disease Prediction</dc:title>
  <dc:subject>RL Hyper-Heuristic Feature Selection Presentation</dc:subject>
  <dc:creator>OpenAI</dc:creator>
  <cp:lastModifiedBy>joumana lagha</cp:lastModifiedBy>
  <cp:revision>3</cp:revision>
  <dcterms:created xsi:type="dcterms:W3CDTF">2026-10-10T15:42:27Z</dcterms:created>
  <dcterms:modified xsi:type="dcterms:W3CDTF">2026-10-10T16:04:04Z</dcterms:modified>
</cp:coreProperties>
</file>